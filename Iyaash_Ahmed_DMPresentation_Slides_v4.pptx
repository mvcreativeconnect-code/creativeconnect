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— see speech, Slide 01. Keep to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12. Say the exact URL and the date of the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16. If GA4 is not live, delete this slide and its narration.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17. Only claim what is actually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21. Fill every cell before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25. State the issue you found, or say there was no blocking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slide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hero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67025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C0E12"/>
          </a:solidFill>
          <a:ln/>
        </p:spPr>
      </p:sp>
      <p:sp>
        <p:nvSpPr>
          <p:cNvPr id="4" name="Shape 1"/>
          <p:cNvSpPr/>
          <p:nvPr/>
        </p:nvSpPr>
        <p:spPr>
          <a:xfrm>
            <a:off x="5852160" y="0"/>
            <a:ext cx="310896" cy="6858000"/>
          </a:xfrm>
          <a:prstGeom prst="rect">
            <a:avLst/>
          </a:prstGeom>
          <a:solidFill>
            <a:srgbClr val="0C0E12">
              <a:alpha val="8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144768" y="0"/>
            <a:ext cx="310896" cy="6858000"/>
          </a:xfrm>
          <a:prstGeom prst="rect">
            <a:avLst/>
          </a:prstGeom>
          <a:solidFill>
            <a:srgbClr val="0C0E12">
              <a:alpha val="66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437376" y="0"/>
            <a:ext cx="310896" cy="6858000"/>
          </a:xfrm>
          <a:prstGeom prst="rect">
            <a:avLst/>
          </a:prstGeom>
          <a:solidFill>
            <a:srgbClr val="0C0E12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729984" y="0"/>
            <a:ext cx="310896" cy="6858000"/>
          </a:xfrm>
          <a:prstGeom prst="rect">
            <a:avLst/>
          </a:prstGeom>
          <a:solidFill>
            <a:srgbClr val="0C0E12">
              <a:alpha val="3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022592" y="0"/>
            <a:ext cx="310896" cy="6858000"/>
          </a:xfrm>
          <a:prstGeom prst="rect">
            <a:avLst/>
          </a:prstGeom>
          <a:solidFill>
            <a:srgbClr val="0C0E12">
              <a:alpha val="18000"/>
            </a:srgbClr>
          </a:solidFill>
          <a:ln/>
        </p:spPr>
      </p:sp>
      <p:pic>
        <p:nvPicPr>
          <p:cNvPr id="9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74980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33856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19202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Marketing Project</a:t>
            </a:r>
            <a:endParaRPr lang="en-US" sz="4000" dirty="0"/>
          </a:p>
        </p:txBody>
      </p:sp>
      <p:sp>
        <p:nvSpPr>
          <p:cNvPr id="12" name="Shape 8"/>
          <p:cNvSpPr/>
          <p:nvPr/>
        </p:nvSpPr>
        <p:spPr>
          <a:xfrm>
            <a:off x="640080" y="3703320"/>
            <a:ext cx="1005840" cy="320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008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4 — Founder's Challenge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4572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 Ahmed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 A273864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build, booking flow and measurement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Hammadh · Iyaash · Aiman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863840" y="3977640"/>
            <a:ext cx="3794760" cy="2514600"/>
          </a:xfrm>
          <a:prstGeom prst="roundRect">
            <a:avLst>
              <a:gd name="adj" fmla="val 3636"/>
            </a:avLst>
          </a:prstGeom>
          <a:solidFill>
            <a:srgbClr val="14171D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13816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OWN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8138160" y="4553712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website and booking page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 form and its API route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 store and protected admin inbox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event instrumentation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end-to-end deployment test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ven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STORY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venture concept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planned photo and video studio in Malé, serving personal and commercial projects across the Maldives.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65176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297680" y="265176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092440" y="265176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serves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3375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Couples planning weddings and elopements; resorts, hospitality teams and smaller brands. Events, portraits and family sessions are secondary.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sells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3375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and film together, scoped around one brief, with a written quote before anything is booked.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836676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brief, not a checkout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333756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Crew, schedule and deliverables depend on the project, so the site collects a brief instead of taking instant payment.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journe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SYSTEM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 journey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handoffs. Each one has to work, and each one is measurable.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discovers a post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3127248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355848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630168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6301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630168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Explores services and work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5980176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208776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83096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483096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483096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a project brief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833104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9061704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336024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9336024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inbox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9336024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follows up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02920" y="484632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15181E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details a visitor chooses to give us are first-party data, exchanged for a written quote — not collected without a purpose.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bui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EVIDENCE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status and proof still needed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separate what the source code contains from what the deployed service can prove.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65176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263640" y="265176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in the supplied source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3375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with four package cards and a booking page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route into a SQLite lead store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admin inbox with pipeline stages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event calls in the code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on the deployed service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33375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URL opens on desktop and mobile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dated test request reaches the inbox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stage can be changed by the team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events visible in DebugView / Realtime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local build is not proof. Every claim on the next slides is a dated capture from the live service.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hero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E01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website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site, opened without any admin login.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7406640" cy="3566160"/>
          </a:xfrm>
          <a:prstGeom prst="roundRect">
            <a:avLst>
              <a:gd name="adj" fmla="val 2051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82296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114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URL + date, desktop and phone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E01 · PUBLIC SITE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3227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0392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exactly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page on desktop and mobile, with the URL bar visible.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5074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5330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Domain, date, hero, navigation and the booking call to action.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gener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E02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 and Going Big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approved starting prices and a fourth custom-quote tier.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7406640" cy="3566160"/>
          </a:xfrm>
          <a:prstGeom prst="roundRect">
            <a:avLst>
              <a:gd name="adj" fmla="val 2051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82296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114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cards, prices, Request a custom quote button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E02 · PACKAGES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3227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0392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exactly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packages section showing all four cards.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5074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5330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MVR 2,500 / 5,500 / 9,500 and Going Big as a custom quote.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prices cover a single Greater Malé location. Travel, extra crew and wider production are quoted in writing.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ven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E03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request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clearly labelled test request, submitted like any visitor.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7406640" cy="3566160"/>
          </a:xfrm>
          <a:prstGeom prst="roundRect">
            <a:avLst>
              <a:gd name="adj" fmla="val 2051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82296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114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+ thank-you page, labelled TEST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E03 · BOOKING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3227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0392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exactly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completed form and the confirmation page.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5074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5330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preselected, required fields, date, confirmation wording.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bui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E04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inbox and status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request inside the protected admin inbox.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7406640" cy="3566160"/>
          </a:xfrm>
          <a:prstGeom prst="roundRect">
            <a:avLst>
              <a:gd name="adj" fmla="val 2051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82296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114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 name, email and phone before capturing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E04 · LEAD INBOX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3227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0392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exactly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leads list, with contact details redacted.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5074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5330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date and time, stage moved from Booking request to Contacted.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stages: Booking request → Contacted → Quote sent → Booked → Lost.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journe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E05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GA4 verification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checked on the deployed site, not in the code.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31720"/>
            <a:ext cx="7406640" cy="3566160"/>
          </a:xfrm>
          <a:prstGeom prst="roundRect">
            <a:avLst>
              <a:gd name="adj" fmla="val 2051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82296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114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this slide if GA4 is not connected in time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E05 · GA4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503920" y="32278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Iyaash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0392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exactly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42793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DebugView during the test journey, plus Realtime during the class visit.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5074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5330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ID, date, and the order page_view → form_start → generate_lead.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generate_lead is marked as the key event. Consent Mode v2 denies analytics storage until a visitor accepts.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te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E06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social connection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Aiman owns the content. I verify that the link works end to end.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395728"/>
            <a:ext cx="1792224" cy="2340864"/>
          </a:xfrm>
          <a:prstGeom prst="roundRect">
            <a:avLst>
              <a:gd name="adj" fmla="val 306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9" name="Image 2" descr="img/post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6072" y="2468880"/>
            <a:ext cx="1645920" cy="21945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2920" y="4809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01 · Studio intro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2478024" y="2395728"/>
            <a:ext cx="1792224" cy="2340864"/>
          </a:xfrm>
          <a:prstGeom prst="roundRect">
            <a:avLst>
              <a:gd name="adj" fmla="val 306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12" name="Image 3" descr="img/post2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551176" y="2468880"/>
            <a:ext cx="1645920" cy="21945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2478024" y="4809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02 · Weddings</a:t>
            </a:r>
            <a:endParaRPr lang="en-US" sz="950" dirty="0"/>
          </a:p>
        </p:txBody>
      </p:sp>
      <p:sp>
        <p:nvSpPr>
          <p:cNvPr id="14" name="Shape 8"/>
          <p:cNvSpPr/>
          <p:nvPr/>
        </p:nvSpPr>
        <p:spPr>
          <a:xfrm>
            <a:off x="4453128" y="2395728"/>
            <a:ext cx="1792224" cy="2340864"/>
          </a:xfrm>
          <a:prstGeom prst="roundRect">
            <a:avLst>
              <a:gd name="adj" fmla="val 306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15" name="Image 4" descr="img/post3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26280" y="2468880"/>
            <a:ext cx="1645920" cy="219456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453128" y="4809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03 · Brands</a:t>
            </a:r>
            <a:endParaRPr lang="en-US" sz="950" dirty="0"/>
          </a:p>
        </p:txBody>
      </p:sp>
      <p:sp>
        <p:nvSpPr>
          <p:cNvPr id="17" name="Shape 10"/>
          <p:cNvSpPr/>
          <p:nvPr/>
        </p:nvSpPr>
        <p:spPr>
          <a:xfrm>
            <a:off x="6428232" y="2395728"/>
            <a:ext cx="1792224" cy="2340864"/>
          </a:xfrm>
          <a:prstGeom prst="roundRect">
            <a:avLst>
              <a:gd name="adj" fmla="val 3061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18" name="Image 5" descr="img/post4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01384" y="2468880"/>
            <a:ext cx="1645920" cy="219456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428232" y="48097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· Book your shoot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502920" y="5193792"/>
            <a:ext cx="7406640" cy="777240"/>
          </a:xfrm>
          <a:prstGeom prst="roundRect">
            <a:avLst>
              <a:gd name="adj" fmla="val 9412"/>
            </a:avLst>
          </a:prstGeom>
          <a:solidFill>
            <a:srgbClr val="15181E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21" name="Text 13"/>
          <p:cNvSpPr txBox="1"/>
          <p:nvPr/>
        </p:nvSpPr>
        <p:spPr>
          <a:xfrm>
            <a:off x="685800" y="535838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 — the live @mvcreativeconnect profile and the bio link opening the booking page on a phone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8229600" y="2395728"/>
            <a:ext cx="3429000" cy="3575304"/>
          </a:xfrm>
          <a:prstGeom prst="roundRect">
            <a:avLst>
              <a:gd name="adj" fmla="val 2667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8503920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E06 · INSTAGRAM</a:t>
            </a:r>
            <a:endParaRPr lang="en-US" sz="1100" dirty="0"/>
          </a:p>
        </p:txBody>
      </p:sp>
      <p:sp>
        <p:nvSpPr>
          <p:cNvPr id="24" name="Text 16"/>
          <p:cNvSpPr txBox="1"/>
          <p:nvPr/>
        </p:nvSpPr>
        <p:spPr>
          <a:xfrm>
            <a:off x="8503920" y="30358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8503920" y="3291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Aiman creates the content. I verify the link.</a:t>
            </a:r>
            <a:endParaRPr lang="en-US" sz="1150" dirty="0"/>
          </a:p>
        </p:txBody>
      </p:sp>
      <p:sp>
        <p:nvSpPr>
          <p:cNvPr id="26" name="Text 18"/>
          <p:cNvSpPr txBox="1"/>
          <p:nvPr/>
        </p:nvSpPr>
        <p:spPr>
          <a:xfrm>
            <a:off x="8503920" y="40873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8503920" y="4343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creatives above go out today.</a:t>
            </a:r>
            <a:endParaRPr lang="en-US" sz="1150" dirty="0"/>
          </a:p>
        </p:txBody>
      </p:sp>
      <p:sp>
        <p:nvSpPr>
          <p:cNvPr id="28" name="Text 20"/>
          <p:cNvSpPr txBox="1"/>
          <p:nvPr/>
        </p:nvSpPr>
        <p:spPr>
          <a:xfrm>
            <a:off x="8503920" y="5138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8503920" y="5394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Handle, post dates, bio link, and the booking page reachable in two taps.</a:t>
            </a:r>
            <a:endParaRPr lang="en-US" sz="1150" dirty="0"/>
          </a:p>
        </p:txBody>
      </p:sp>
      <p:sp>
        <p:nvSpPr>
          <p:cNvPr id="30" name="Text 22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Creatives shown are the approved campaign assets. Only claim engagement figures once the posts are actually live.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ref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SCORECARD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 versus actual results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were written before launch. Test activity is counted separately from live activity.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51760"/>
          <a:ext cx="111556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  <a:gridCol w="246888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0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0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— first 7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0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as at 28 Sep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0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Website sessions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7D0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measured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GA4 report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 selections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7D0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measured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GA4 event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 starts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7D0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measured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GA4 event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Submitted enquiries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genuine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inbox + GA4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Labelled test requests (excluded)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— 23 September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inbox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Instagram reach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7D0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Posts published today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Insights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 or story link taps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7D0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Posts published today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Insights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3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set for the seven days from launch, 28 September to 4 October. Amber cells are replaced with real figures before the presentation. A test enquiry is never presented as a customer result.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te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ANGLE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ownership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visible pages: a form route, a lead store and a protected inbox.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form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474720" y="26517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fields, plus a brief, locations and budget range when a custom quote is chosen.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3346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474720" y="33467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on the server as well as the browser, rate limits abuse and blocks bot submissions.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4041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store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40416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SQLite. Each request keeps its own status, source, timestamp and private notes.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02920" y="47365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inbox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473659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protected, with roles, CSV export and a JSON backup.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54315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543153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recorded with the request. The privacy page names our own database, not an outside CRM.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gener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ANGLE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test sequence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steps, four separate failure points.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74320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29077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290779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public URL on a second device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02920" y="352044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3685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6850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 clearly labelled test request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02920" y="429768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44622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554480" y="446227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the protected inbox and change its stage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02920" y="5074920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2960" y="52395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554480" y="523951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matching GA4 events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502920" y="5897880"/>
            <a:ext cx="11155680" cy="0"/>
          </a:xfrm>
          <a:prstGeom prst="roundRect">
            <a:avLst>
              <a:gd name="adj" fmla="val Infinity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polished home page is worth nothing if the request disappears after submission.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conclus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SYNTHESIS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small, usable journey: discover the offer, send a brief, get a written quote.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26517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297680" y="26517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092440" y="26517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proposed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3375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photo and film offer for couples and brands, with prices approved in writing.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3375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 site, a booking request, a lead store and a protected inbox, instrumented for GA4.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836676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evidence shows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33375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verified live elements, with test activity labelled and kept out of the results.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02920" y="5715000"/>
            <a:ext cx="11155680" cy="685800"/>
          </a:xfrm>
          <a:prstGeom prst="roundRect">
            <a:avLst>
              <a:gd name="adj" fmla="val 13333"/>
            </a:avLst>
          </a:prstGeom>
          <a:solidFill>
            <a:srgbClr val="15181E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priority: ____________________________________________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band_ref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331720"/>
          </a:xfrm>
          <a:prstGeom prst="rect">
            <a:avLst/>
          </a:prstGeom>
        </p:spPr>
      </p:pic>
      <p:pic>
        <p:nvPicPr>
          <p:cNvPr id="3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310896" cy="310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65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CreativeConnect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MASTER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and documentation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502920" y="2194560"/>
            <a:ext cx="11155680" cy="3657600"/>
          </a:xfrm>
          <a:prstGeom prst="roundRect">
            <a:avLst>
              <a:gd name="adj" fmla="val 2500"/>
            </a:avLst>
          </a:prstGeom>
          <a:solidFill>
            <a:srgbClr val="1A1D2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242316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DataReportal (2025) Digital 2026: Maldives. Available at: https://datareportal.com/reports/digital-2026-maldives (Accessed: 28 September 2026).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(2025) Next steps for Privacy Sandbox and tracking protections in Chrome, 22 April. Available at: https://privacysandbox.google.com/blog/privacy-sandbox-next-steps (Accessed: 28 September 2026).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(2026) About key events, Google Analytics Help. Available at: https://support.google.com/analytics/answer/9267568 (Accessed: 28 September 2026).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(2026) Set up consent mode on websites, Google for Developers. Available at: https://developers.google.com/tag-platform/security/guides/consent (Accessed: 28 September 2026).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Hick, W.E. (1952) 'On the rate of gain of information', Quarterly Journal of Experimental Psychology, 4(1), pp. 11-26.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Oldroyd, J.B., McElheran, K. and Elkington, D. (2011) 'The short life of online sales leads', Harvard Business Review, March. Available at: https://hbr.org/2011/03/the-short-life-of-online-sales-leads (Accessed: 28 September 2026).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documents: CreativeConnect Venture Concept; CreativeConnect Package Price Approval; CreativeConnect Project Report (technical documentation).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2026-09-28T17:04:25Z</dcterms:created>
  <dcterms:modified xsi:type="dcterms:W3CDTF">2026-09-28T17:04:25Z</dcterms:modified>
</cp:coreProperties>
</file>